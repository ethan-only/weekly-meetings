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671" r:id="rId4"/>
    <p:sldId id="514" r:id="rId6"/>
    <p:sldId id="412" r:id="rId7"/>
    <p:sldId id="672" r:id="rId8"/>
    <p:sldId id="679" r:id="rId9"/>
    <p:sldId id="680" r:id="rId10"/>
    <p:sldId id="428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112"/>
    <a:srgbClr val="0E589D"/>
    <a:srgbClr val="F6AB00"/>
    <a:srgbClr val="59A3E8"/>
    <a:srgbClr val="9CC0EF"/>
    <a:srgbClr val="CDE0F6"/>
    <a:srgbClr val="C3D3FB"/>
    <a:srgbClr val="2573C5"/>
    <a:srgbClr val="BFBFBF"/>
    <a:srgbClr val="D1E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27" autoAdjust="0"/>
    <p:restoredTop sz="94660"/>
  </p:normalViewPr>
  <p:slideViewPr>
    <p:cSldViewPr snapToGrid="0" showGuides="1">
      <p:cViewPr varScale="1">
        <p:scale>
          <a:sx n="140" d="100"/>
          <a:sy n="140" d="100"/>
        </p:scale>
        <p:origin x="192" y="320"/>
      </p:cViewPr>
      <p:guideLst>
        <p:guide orient="horz" pos="192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7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560"/>
            <a:ext cx="9799200" cy="257084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1023"/>
            <a:ext cx="9799200" cy="14726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661"/>
            <a:ext cx="10969200" cy="47600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9073"/>
            <a:ext cx="7768800" cy="7669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6008"/>
            <a:ext cx="7768800" cy="8677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463"/>
            <a:ext cx="5176800" cy="47492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463"/>
            <a:ext cx="5176800" cy="47492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451"/>
            <a:ext cx="5342400" cy="3816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977"/>
            <a:ext cx="5342400" cy="3816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387"/>
            <a:ext cx="5233035" cy="460900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472"/>
            <a:ext cx="5227200" cy="4608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560"/>
            <a:ext cx="1044000" cy="50300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560"/>
            <a:ext cx="9169200" cy="503008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136"/>
            <a:ext cx="10972800" cy="548375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435"/>
            <a:ext cx="9799200" cy="101897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1023"/>
            <a:ext cx="9799200" cy="4716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560"/>
            <a:ext cx="9799200" cy="257084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1023"/>
            <a:ext cx="9799200" cy="14726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661"/>
            <a:ext cx="10969200" cy="47600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9073"/>
            <a:ext cx="7768800" cy="7669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6008"/>
            <a:ext cx="7768800" cy="8677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463"/>
            <a:ext cx="5176800" cy="47492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463"/>
            <a:ext cx="5176800" cy="47492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451"/>
            <a:ext cx="5342400" cy="3816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977"/>
            <a:ext cx="5342400" cy="3816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387"/>
            <a:ext cx="5233035" cy="460900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472"/>
            <a:ext cx="5227200" cy="4608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560"/>
            <a:ext cx="1044000" cy="50300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560"/>
            <a:ext cx="9169200" cy="503008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136"/>
            <a:ext cx="10972800" cy="548375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435"/>
            <a:ext cx="9799200" cy="101897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1023"/>
            <a:ext cx="9799200" cy="4716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507"/>
            <a:ext cx="10969200" cy="7057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661"/>
            <a:ext cx="10969200" cy="476003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5504"/>
            <a:ext cx="396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507"/>
            <a:ext cx="10969200" cy="7057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661"/>
            <a:ext cx="10969200" cy="476003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5504"/>
            <a:ext cx="396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image" Target="../media/image1.jpeg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152.xml"/><Relationship Id="rId23" Type="http://schemas.openxmlformats.org/officeDocument/2006/relationships/image" Target="../media/image2.png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image" Target="../media/image98.png"/><Relationship Id="rId98" Type="http://schemas.openxmlformats.org/officeDocument/2006/relationships/image" Target="../media/image97.png"/><Relationship Id="rId97" Type="http://schemas.openxmlformats.org/officeDocument/2006/relationships/image" Target="../media/image96.png"/><Relationship Id="rId96" Type="http://schemas.openxmlformats.org/officeDocument/2006/relationships/image" Target="../media/image95.png"/><Relationship Id="rId95" Type="http://schemas.openxmlformats.org/officeDocument/2006/relationships/image" Target="../media/image94.png"/><Relationship Id="rId94" Type="http://schemas.openxmlformats.org/officeDocument/2006/relationships/image" Target="../media/image93.png"/><Relationship Id="rId93" Type="http://schemas.openxmlformats.org/officeDocument/2006/relationships/image" Target="../media/image92.png"/><Relationship Id="rId92" Type="http://schemas.openxmlformats.org/officeDocument/2006/relationships/image" Target="../media/image91.png"/><Relationship Id="rId91" Type="http://schemas.openxmlformats.org/officeDocument/2006/relationships/image" Target="../media/image90.png"/><Relationship Id="rId90" Type="http://schemas.openxmlformats.org/officeDocument/2006/relationships/image" Target="../media/image89.png"/><Relationship Id="rId9" Type="http://schemas.openxmlformats.org/officeDocument/2006/relationships/image" Target="../media/image8.png"/><Relationship Id="rId89" Type="http://schemas.openxmlformats.org/officeDocument/2006/relationships/image" Target="../media/image88.png"/><Relationship Id="rId88" Type="http://schemas.openxmlformats.org/officeDocument/2006/relationships/image" Target="../media/image87.png"/><Relationship Id="rId87" Type="http://schemas.openxmlformats.org/officeDocument/2006/relationships/image" Target="../media/image86.png"/><Relationship Id="rId86" Type="http://schemas.openxmlformats.org/officeDocument/2006/relationships/image" Target="../media/image85.png"/><Relationship Id="rId85" Type="http://schemas.openxmlformats.org/officeDocument/2006/relationships/image" Target="../media/image84.png"/><Relationship Id="rId84" Type="http://schemas.openxmlformats.org/officeDocument/2006/relationships/image" Target="../media/image83.png"/><Relationship Id="rId83" Type="http://schemas.openxmlformats.org/officeDocument/2006/relationships/image" Target="../media/image82.png"/><Relationship Id="rId82" Type="http://schemas.openxmlformats.org/officeDocument/2006/relationships/image" Target="../media/image81.png"/><Relationship Id="rId81" Type="http://schemas.openxmlformats.org/officeDocument/2006/relationships/image" Target="../media/image80.png"/><Relationship Id="rId80" Type="http://schemas.openxmlformats.org/officeDocument/2006/relationships/image" Target="../media/image79.png"/><Relationship Id="rId8" Type="http://schemas.openxmlformats.org/officeDocument/2006/relationships/image" Target="../media/image7.png"/><Relationship Id="rId79" Type="http://schemas.openxmlformats.org/officeDocument/2006/relationships/image" Target="../media/image78.png"/><Relationship Id="rId78" Type="http://schemas.openxmlformats.org/officeDocument/2006/relationships/image" Target="../media/image77.png"/><Relationship Id="rId77" Type="http://schemas.openxmlformats.org/officeDocument/2006/relationships/image" Target="../media/image76.png"/><Relationship Id="rId76" Type="http://schemas.openxmlformats.org/officeDocument/2006/relationships/image" Target="../media/image75.png"/><Relationship Id="rId75" Type="http://schemas.openxmlformats.org/officeDocument/2006/relationships/image" Target="../media/image74.png"/><Relationship Id="rId74" Type="http://schemas.openxmlformats.org/officeDocument/2006/relationships/image" Target="../media/image73.png"/><Relationship Id="rId73" Type="http://schemas.openxmlformats.org/officeDocument/2006/relationships/image" Target="../media/image72.png"/><Relationship Id="rId72" Type="http://schemas.openxmlformats.org/officeDocument/2006/relationships/image" Target="../media/image71.png"/><Relationship Id="rId71" Type="http://schemas.openxmlformats.org/officeDocument/2006/relationships/image" Target="../media/image70.png"/><Relationship Id="rId70" Type="http://schemas.openxmlformats.org/officeDocument/2006/relationships/image" Target="../media/image69.png"/><Relationship Id="rId7" Type="http://schemas.openxmlformats.org/officeDocument/2006/relationships/image" Target="../media/image6.png"/><Relationship Id="rId69" Type="http://schemas.openxmlformats.org/officeDocument/2006/relationships/image" Target="../media/image68.png"/><Relationship Id="rId68" Type="http://schemas.openxmlformats.org/officeDocument/2006/relationships/image" Target="../media/image67.png"/><Relationship Id="rId67" Type="http://schemas.openxmlformats.org/officeDocument/2006/relationships/image" Target="../media/image66.png"/><Relationship Id="rId66" Type="http://schemas.openxmlformats.org/officeDocument/2006/relationships/image" Target="../media/image65.png"/><Relationship Id="rId65" Type="http://schemas.openxmlformats.org/officeDocument/2006/relationships/image" Target="../media/image64.png"/><Relationship Id="rId64" Type="http://schemas.openxmlformats.org/officeDocument/2006/relationships/image" Target="../media/image63.png"/><Relationship Id="rId63" Type="http://schemas.openxmlformats.org/officeDocument/2006/relationships/image" Target="../media/image62.png"/><Relationship Id="rId62" Type="http://schemas.openxmlformats.org/officeDocument/2006/relationships/image" Target="../media/image61.png"/><Relationship Id="rId61" Type="http://schemas.openxmlformats.org/officeDocument/2006/relationships/image" Target="../media/image60.png"/><Relationship Id="rId60" Type="http://schemas.openxmlformats.org/officeDocument/2006/relationships/image" Target="../media/image59.png"/><Relationship Id="rId6" Type="http://schemas.openxmlformats.org/officeDocument/2006/relationships/image" Target="../media/image5.png"/><Relationship Id="rId59" Type="http://schemas.openxmlformats.org/officeDocument/2006/relationships/image" Target="../media/image58.png"/><Relationship Id="rId58" Type="http://schemas.openxmlformats.org/officeDocument/2006/relationships/image" Target="../media/image57.png"/><Relationship Id="rId57" Type="http://schemas.openxmlformats.org/officeDocument/2006/relationships/image" Target="../media/image56.png"/><Relationship Id="rId56" Type="http://schemas.openxmlformats.org/officeDocument/2006/relationships/image" Target="../media/image55.png"/><Relationship Id="rId55" Type="http://schemas.openxmlformats.org/officeDocument/2006/relationships/image" Target="../media/image54.png"/><Relationship Id="rId54" Type="http://schemas.openxmlformats.org/officeDocument/2006/relationships/image" Target="../media/image53.png"/><Relationship Id="rId53" Type="http://schemas.openxmlformats.org/officeDocument/2006/relationships/image" Target="../media/image52.png"/><Relationship Id="rId52" Type="http://schemas.openxmlformats.org/officeDocument/2006/relationships/image" Target="../media/image51.png"/><Relationship Id="rId51" Type="http://schemas.openxmlformats.org/officeDocument/2006/relationships/image" Target="../media/image50.png"/><Relationship Id="rId50" Type="http://schemas.openxmlformats.org/officeDocument/2006/relationships/image" Target="../media/image49.png"/><Relationship Id="rId5" Type="http://schemas.openxmlformats.org/officeDocument/2006/relationships/image" Target="../media/image4.png"/><Relationship Id="rId49" Type="http://schemas.openxmlformats.org/officeDocument/2006/relationships/image" Target="../media/image48.png"/><Relationship Id="rId48" Type="http://schemas.openxmlformats.org/officeDocument/2006/relationships/image" Target="../media/image47.png"/><Relationship Id="rId47" Type="http://schemas.openxmlformats.org/officeDocument/2006/relationships/image" Target="../media/image46.png"/><Relationship Id="rId46" Type="http://schemas.openxmlformats.org/officeDocument/2006/relationships/image" Target="../media/image45.png"/><Relationship Id="rId45" Type="http://schemas.openxmlformats.org/officeDocument/2006/relationships/image" Target="../media/image44.png"/><Relationship Id="rId44" Type="http://schemas.openxmlformats.org/officeDocument/2006/relationships/image" Target="../media/image43.png"/><Relationship Id="rId43" Type="http://schemas.openxmlformats.org/officeDocument/2006/relationships/image" Target="../media/image42.png"/><Relationship Id="rId42" Type="http://schemas.openxmlformats.org/officeDocument/2006/relationships/image" Target="../media/image41.png"/><Relationship Id="rId41" Type="http://schemas.openxmlformats.org/officeDocument/2006/relationships/image" Target="../media/image40.png"/><Relationship Id="rId40" Type="http://schemas.openxmlformats.org/officeDocument/2006/relationships/image" Target="../media/image39.png"/><Relationship Id="rId4" Type="http://schemas.openxmlformats.org/officeDocument/2006/relationships/tags" Target="../tags/tag159.xml"/><Relationship Id="rId39" Type="http://schemas.openxmlformats.org/officeDocument/2006/relationships/image" Target="../media/image38.png"/><Relationship Id="rId38" Type="http://schemas.openxmlformats.org/officeDocument/2006/relationships/image" Target="../media/image37.png"/><Relationship Id="rId37" Type="http://schemas.openxmlformats.org/officeDocument/2006/relationships/image" Target="../media/image36.png"/><Relationship Id="rId36" Type="http://schemas.openxmlformats.org/officeDocument/2006/relationships/image" Target="../media/image35.png"/><Relationship Id="rId35" Type="http://schemas.openxmlformats.org/officeDocument/2006/relationships/image" Target="../media/image34.png"/><Relationship Id="rId34" Type="http://schemas.openxmlformats.org/officeDocument/2006/relationships/image" Target="../media/image33.png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png"/><Relationship Id="rId30" Type="http://schemas.openxmlformats.org/officeDocument/2006/relationships/image" Target="../media/image29.png"/><Relationship Id="rId3" Type="http://schemas.openxmlformats.org/officeDocument/2006/relationships/tags" Target="../tags/tag158.xml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3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7" Type="http://schemas.openxmlformats.org/officeDocument/2006/relationships/notesSlide" Target="../notesSlides/notesSlide4.xml"/><Relationship Id="rId106" Type="http://schemas.openxmlformats.org/officeDocument/2006/relationships/slideLayout" Target="../slideLayouts/slideLayout24.xml"/><Relationship Id="rId105" Type="http://schemas.openxmlformats.org/officeDocument/2006/relationships/image" Target="../media/image103.png"/><Relationship Id="rId104" Type="http://schemas.openxmlformats.org/officeDocument/2006/relationships/image" Target="../media/image102.png"/><Relationship Id="rId103" Type="http://schemas.openxmlformats.org/officeDocument/2006/relationships/image" Target="../media/image101.png"/><Relationship Id="rId102" Type="http://schemas.openxmlformats.org/officeDocument/2006/relationships/image" Target="../media/image100.png"/><Relationship Id="rId101" Type="http://schemas.openxmlformats.org/officeDocument/2006/relationships/image" Target="../media/image99.png"/><Relationship Id="rId100" Type="http://schemas.openxmlformats.org/officeDocument/2006/relationships/tags" Target="../tags/tag160.xml"/><Relationship Id="rId10" Type="http://schemas.openxmlformats.org/officeDocument/2006/relationships/image" Target="../media/image9.png"/><Relationship Id="rId1" Type="http://schemas.openxmlformats.org/officeDocument/2006/relationships/tags" Target="../tags/tag15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image" Target="../media/image14.png"/><Relationship Id="rId7" Type="http://schemas.openxmlformats.org/officeDocument/2006/relationships/image" Target="../media/image104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16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image" Target="../media/image109.png"/><Relationship Id="rId7" Type="http://schemas.openxmlformats.org/officeDocument/2006/relationships/tags" Target="../tags/tag171.xml"/><Relationship Id="rId6" Type="http://schemas.openxmlformats.org/officeDocument/2006/relationships/image" Target="../media/image108.png"/><Relationship Id="rId5" Type="http://schemas.openxmlformats.org/officeDocument/2006/relationships/tags" Target="../tags/tag170.xml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tags" Target="../tags/tag169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封面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205740" y="0"/>
            <a:ext cx="12397740" cy="685800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-97155" y="2992755"/>
            <a:ext cx="5412105" cy="3124200"/>
          </a:xfrm>
          <a:prstGeom prst="roundRect">
            <a:avLst>
              <a:gd name="adj" fmla="val 12276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50800" dir="5400000" sx="102000" sy="102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07315" y="3350895"/>
            <a:ext cx="5484495" cy="650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0E589D"/>
                </a:solidFill>
                <a:latin typeface="+mn-ea"/>
                <a:cs typeface="+mn-ea"/>
              </a:rPr>
              <a:t>2026</a:t>
            </a:r>
            <a:r>
              <a:rPr lang="zh-CN" altLang="en-US" sz="3200">
                <a:solidFill>
                  <a:srgbClr val="0E589D"/>
                </a:solidFill>
                <a:latin typeface="+mn-ea"/>
                <a:cs typeface="+mn-ea"/>
              </a:rPr>
              <a:t>集采管理周例会</a:t>
            </a:r>
            <a:endParaRPr lang="zh-CN" altLang="en-US" sz="3200">
              <a:solidFill>
                <a:srgbClr val="0E589D"/>
              </a:solidFill>
              <a:latin typeface="+mn-ea"/>
              <a:cs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12750" y="5384165"/>
            <a:ext cx="2528570" cy="676275"/>
            <a:chOff x="512" y="7875"/>
            <a:chExt cx="3982" cy="1065"/>
          </a:xfrm>
        </p:grpSpPr>
        <p:sp>
          <p:nvSpPr>
            <p:cNvPr id="2" name="文本框 1"/>
            <p:cNvSpPr txBox="1"/>
            <p:nvPr>
              <p:custDataLst>
                <p:tags r:id="rId4"/>
              </p:custDataLst>
            </p:nvPr>
          </p:nvSpPr>
          <p:spPr>
            <a:xfrm>
              <a:off x="512" y="8350"/>
              <a:ext cx="3507" cy="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100">
                  <a:solidFill>
                    <a:srgbClr val="0E589D"/>
                  </a:solidFill>
                  <a:latin typeface="+mn-ea"/>
                  <a:cs typeface="+mn-ea"/>
                </a:rPr>
                <a:t>&gt;&gt;&gt; </a:t>
              </a:r>
              <a:r>
                <a:rPr lang="zh-CN" altLang="en-US" sz="1100">
                  <a:solidFill>
                    <a:srgbClr val="0E589D"/>
                  </a:solidFill>
                  <a:latin typeface="+mn-ea"/>
                  <a:cs typeface="+mn-ea"/>
                </a:rPr>
                <a:t>让前沿科技更平易近人</a:t>
              </a:r>
              <a:r>
                <a:rPr lang="en-US" altLang="zh-CN" sz="1100">
                  <a:solidFill>
                    <a:srgbClr val="0E589D"/>
                  </a:solidFill>
                  <a:latin typeface="+mn-ea"/>
                  <a:cs typeface="+mn-ea"/>
                </a:rPr>
                <a:t> &lt;&lt;&lt;</a:t>
              </a:r>
              <a:endParaRPr lang="en-US" altLang="zh-CN" sz="1100">
                <a:solidFill>
                  <a:srgbClr val="0E589D"/>
                </a:solidFill>
                <a:latin typeface="+mn-ea"/>
                <a:cs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12" y="7875"/>
              <a:ext cx="3982" cy="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300">
                  <a:solidFill>
                    <a:srgbClr val="0E589D"/>
                  </a:solidFill>
                  <a:latin typeface="+mn-ea"/>
                </a:rPr>
                <a:t>深圳市亿高数码技术有限公司</a:t>
              </a:r>
              <a:endParaRPr lang="zh-CN" altLang="en-US" sz="1300">
                <a:solidFill>
                  <a:srgbClr val="0E589D"/>
                </a:solidFill>
                <a:latin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23520" y="3905885"/>
            <a:ext cx="4891405" cy="2155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计划中心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-</a:t>
            </a: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工程部</a:t>
            </a:r>
            <a:endParaRPr lang="zh-CN" altLang="en-US" sz="2000">
              <a:solidFill>
                <a:srgbClr val="0E589D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姓名：罗鹏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   </a:t>
            </a:r>
            <a:endParaRPr lang="en-US" altLang="zh-CN" sz="2000">
              <a:solidFill>
                <a:srgbClr val="0E589D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日期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:  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  <a:sym typeface="+mn-ea"/>
              </a:rPr>
              <a:t>2026.9.21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-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  <a:sym typeface="+mn-ea"/>
              </a:rPr>
              <a:t>2026.9.30</a:t>
            </a:r>
            <a:endParaRPr lang="zh-CN" altLang="en-US" sz="2000">
              <a:solidFill>
                <a:srgbClr val="0E589D"/>
              </a:solidFill>
              <a:latin typeface="+mn-ea"/>
              <a:cs typeface="+mn-ea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2533650"/>
          </a:xfrm>
          <a:prstGeom prst="rect">
            <a:avLst/>
          </a:prstGeom>
          <a:solidFill>
            <a:srgbClr val="0E58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75885" y="995045"/>
            <a:ext cx="2104390" cy="1081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800">
                <a:solidFill>
                  <a:schemeClr val="lt1"/>
                </a:solidFill>
                <a:latin typeface="+mn-ea"/>
                <a:cs typeface="+mn-ea"/>
              </a:rPr>
              <a:t>目</a:t>
            </a:r>
            <a:r>
              <a:rPr lang="en-US" altLang="zh-CN" sz="4800">
                <a:solidFill>
                  <a:schemeClr val="lt1"/>
                </a:solidFill>
                <a:latin typeface="+mn-ea"/>
                <a:cs typeface="+mn-ea"/>
              </a:rPr>
              <a:t> </a:t>
            </a:r>
            <a:r>
              <a:rPr lang="zh-CN" altLang="en-US" sz="4800">
                <a:solidFill>
                  <a:schemeClr val="lt1"/>
                </a:solidFill>
                <a:latin typeface="+mn-ea"/>
                <a:cs typeface="+mn-ea"/>
              </a:rPr>
              <a:t>录</a:t>
            </a:r>
            <a:endParaRPr lang="zh-CN" altLang="en-US" sz="4800">
              <a:solidFill>
                <a:schemeClr val="lt1"/>
              </a:solidFill>
              <a:latin typeface="+mn-ea"/>
              <a:cs typeface="+mn-ea"/>
            </a:endParaRPr>
          </a:p>
        </p:txBody>
      </p:sp>
      <p:grpSp>
        <p:nvGrpSpPr>
          <p:cNvPr id="45" name="组合 44"/>
          <p:cNvGrpSpPr/>
          <p:nvPr>
            <p:custDataLst>
              <p:tags r:id="rId1"/>
            </p:custDataLst>
          </p:nvPr>
        </p:nvGrpSpPr>
        <p:grpSpPr>
          <a:xfrm>
            <a:off x="1273175" y="2217420"/>
            <a:ext cx="9648190" cy="3233420"/>
            <a:chOff x="1501" y="3428"/>
            <a:chExt cx="13357" cy="4463"/>
          </a:xfrm>
        </p:grpSpPr>
        <p:sp>
          <p:nvSpPr>
            <p:cNvPr id="9" name="流程图: 过程 8"/>
            <p:cNvSpPr/>
            <p:nvPr>
              <p:custDataLst>
                <p:tags r:id="rId2"/>
              </p:custDataLst>
            </p:nvPr>
          </p:nvSpPr>
          <p:spPr>
            <a:xfrm>
              <a:off x="8354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9116" y="3806"/>
              <a:ext cx="1516" cy="1367"/>
              <a:chOff x="6673" y="3361"/>
              <a:chExt cx="1775" cy="1601"/>
            </a:xfrm>
          </p:grpSpPr>
          <p:sp>
            <p:nvSpPr>
              <p:cNvPr id="18" name="菱形 17"/>
              <p:cNvSpPr/>
              <p:nvPr>
                <p:custDataLst>
                  <p:tags r:id="rId3"/>
                </p:custDataLst>
              </p:nvPr>
            </p:nvSpPr>
            <p:spPr>
              <a:xfrm>
                <a:off x="684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9" name="菱形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6673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8521" y="5647"/>
              <a:ext cx="2813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本周工作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计划安排</a:t>
              </a:r>
              <a:endParaRPr lang="zh-CN" altLang="en-US" sz="2400">
                <a:solidFill>
                  <a:srgbClr val="0E589D"/>
                </a:solidFill>
                <a:latin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6"/>
              </p:custDataLst>
            </p:nvPr>
          </p:nvSpPr>
          <p:spPr>
            <a:xfrm>
              <a:off x="9377" y="4126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03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" name="流程图: 过程 7"/>
            <p:cNvSpPr/>
            <p:nvPr>
              <p:custDataLst>
                <p:tags r:id="rId7"/>
              </p:custDataLst>
            </p:nvPr>
          </p:nvSpPr>
          <p:spPr>
            <a:xfrm>
              <a:off x="1501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4" name="流程图: 过程 13"/>
            <p:cNvSpPr/>
            <p:nvPr>
              <p:custDataLst>
                <p:tags r:id="rId8"/>
              </p:custDataLst>
            </p:nvPr>
          </p:nvSpPr>
          <p:spPr>
            <a:xfrm>
              <a:off x="4905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265" y="3808"/>
              <a:ext cx="1489" cy="1367"/>
              <a:chOff x="6615" y="3361"/>
              <a:chExt cx="1743" cy="1601"/>
            </a:xfrm>
          </p:grpSpPr>
          <p:sp>
            <p:nvSpPr>
              <p:cNvPr id="29" name="菱形 28"/>
              <p:cNvSpPr/>
              <p:nvPr>
                <p:custDataLst>
                  <p:tags r:id="rId9"/>
                </p:custDataLst>
              </p:nvPr>
            </p:nvSpPr>
            <p:spPr>
              <a:xfrm>
                <a:off x="675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0" name="菱形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15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2534" y="4127"/>
              <a:ext cx="1585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01 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5723" y="3809"/>
              <a:ext cx="1516" cy="1366"/>
              <a:chOff x="6582" y="3361"/>
              <a:chExt cx="1775" cy="1600"/>
            </a:xfrm>
          </p:grpSpPr>
          <p:sp>
            <p:nvSpPr>
              <p:cNvPr id="32" name="菱形 3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5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7" name="菱形 36"/>
              <p:cNvSpPr/>
              <p:nvPr>
                <p:custDataLst>
                  <p:tags r:id="rId13"/>
                </p:custDataLst>
              </p:nvPr>
            </p:nvSpPr>
            <p:spPr>
              <a:xfrm>
                <a:off x="6582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6" name="文本框 15"/>
            <p:cNvSpPr txBox="1"/>
            <p:nvPr>
              <p:custDataLst>
                <p:tags r:id="rId14"/>
              </p:custDataLst>
            </p:nvPr>
          </p:nvSpPr>
          <p:spPr>
            <a:xfrm>
              <a:off x="5978" y="4154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02 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1910" y="5647"/>
              <a:ext cx="2218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rgbClr val="0E589D"/>
                  </a:solidFill>
                  <a:latin typeface="+mn-ea"/>
                </a:rPr>
                <a:t>上周待办事项进展</a:t>
              </a:r>
              <a:endParaRPr lang="zh-CN" altLang="en-US" sz="2400">
                <a:solidFill>
                  <a:srgbClr val="0E589D"/>
                </a:solidFill>
                <a:latin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5319" y="5647"/>
              <a:ext cx="2272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上周工作完成情况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</p:txBody>
        </p:sp>
        <p:sp>
          <p:nvSpPr>
            <p:cNvPr id="25" name="流程图: 过程 24"/>
            <p:cNvSpPr/>
            <p:nvPr>
              <p:custDataLst>
                <p:tags r:id="rId17"/>
              </p:custDataLst>
            </p:nvPr>
          </p:nvSpPr>
          <p:spPr>
            <a:xfrm>
              <a:off x="11803" y="3455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2587" y="3833"/>
              <a:ext cx="1515" cy="1367"/>
              <a:chOff x="6699" y="3361"/>
              <a:chExt cx="1774" cy="1601"/>
            </a:xfrm>
          </p:grpSpPr>
          <p:sp>
            <p:nvSpPr>
              <p:cNvPr id="27" name="菱形 26"/>
              <p:cNvSpPr/>
              <p:nvPr>
                <p:custDataLst>
                  <p:tags r:id="rId18"/>
                </p:custDataLst>
              </p:nvPr>
            </p:nvSpPr>
            <p:spPr>
              <a:xfrm>
                <a:off x="6872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1" name="菱形 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6699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20"/>
              </p:custDataLst>
            </p:nvPr>
          </p:nvSpPr>
          <p:spPr>
            <a:xfrm>
              <a:off x="11978" y="5649"/>
              <a:ext cx="2721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None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需协助事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  <a:p>
              <a:pPr algn="ctr">
                <a:buClrTx/>
                <a:buSzTx/>
                <a:buNone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项与建议</a:t>
              </a:r>
              <a:endParaRPr lang="en-US" altLang="zh-CN" sz="2400">
                <a:solidFill>
                  <a:srgbClr val="0E589D"/>
                </a:solidFill>
                <a:latin typeface="+mn-ea"/>
                <a:sym typeface="+mn-ea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21"/>
              </p:custDataLst>
            </p:nvPr>
          </p:nvSpPr>
          <p:spPr>
            <a:xfrm>
              <a:off x="12830" y="4153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04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12" name="图片 11" descr="C:\Users\D30-W\Desktop\资源-21.png资源-21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r="6113" b="26412"/>
          <a:stretch>
            <a:fillRect/>
          </a:stretch>
        </p:blipFill>
        <p:spPr>
          <a:xfrm rot="10800000">
            <a:off x="3175" y="-26670"/>
            <a:ext cx="5948680" cy="2407920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 flipH="1">
            <a:off x="615949" y="132461"/>
            <a:ext cx="2133600" cy="43053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spAutoFit/>
          </a:bodyPr>
          <a:p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上周</a:t>
            </a:r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工作进展</a:t>
            </a:r>
            <a:endParaRPr lang="zh-CN" altLang="en-US" sz="2800" b="1" dirty="0">
              <a:solidFill>
                <a:srgbClr val="0E589D"/>
              </a:solidFill>
              <a:cs typeface="+mn-ea"/>
              <a:sym typeface="+mn-lt"/>
            </a:endParaRPr>
          </a:p>
        </p:txBody>
      </p:sp>
      <p:sp>
        <p:nvSpPr>
          <p:cNvPr id="4" name="矩形: 单圆角 25"/>
          <p:cNvSpPr/>
          <p:nvPr>
            <p:custDataLst>
              <p:tags r:id="rId2"/>
            </p:custDataLst>
          </p:nvPr>
        </p:nvSpPr>
        <p:spPr>
          <a:xfrm>
            <a:off x="198755" y="13303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0" y="553720"/>
          <a:ext cx="12191365" cy="6304280"/>
        </p:xfrm>
        <a:graphic>
          <a:graphicData uri="http://schemas.openxmlformats.org/drawingml/2006/table">
            <a:tbl>
              <a:tblPr firstRow="1" bandRow="1"/>
              <a:tblGrid>
                <a:gridCol w="1640205"/>
                <a:gridCol w="6757670"/>
                <a:gridCol w="1389380"/>
                <a:gridCol w="1304925"/>
                <a:gridCol w="1099185"/>
              </a:tblGrid>
              <a:tr h="3987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序号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事项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计划完成时间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实际完成时间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事项状态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102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、（荣耀专案）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、荣耀主板的外箱更换为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PP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中空箱，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2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、荣耀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DDR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自购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DDR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二维码完成情况，临时绑定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LOT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号，剩余二维码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不良退回重新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镭雕，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3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、市场主板红墨水报告假焊事情澄清，</a:t>
                      </a:r>
                      <a:r>
                        <a:rPr lang="en-US" altLang="zh-CN" sz="1000" spc="120">
                          <a:latin typeface="+mn-ea"/>
                          <a:cs typeface="+mn-ea"/>
                          <a:sym typeface="+mn-ea"/>
                        </a:rPr>
                        <a:t>SMT</a:t>
                      </a:r>
                      <a:r>
                        <a:rPr lang="zh-CN" altLang="en-US" sz="1000" spc="120">
                          <a:latin typeface="+mn-ea"/>
                          <a:cs typeface="+mn-ea"/>
                          <a:sym typeface="+mn-ea"/>
                        </a:rPr>
                        <a:t>的</a:t>
                      </a:r>
                      <a:r>
                        <a:rPr lang="en-US" altLang="zh-CN" sz="1000" spc="120">
                          <a:latin typeface="+mn-ea"/>
                          <a:cs typeface="+mn-ea"/>
                          <a:sym typeface="+mn-ea"/>
                        </a:rPr>
                        <a:t>ESD</a:t>
                      </a:r>
                      <a:r>
                        <a:rPr lang="zh-CN" altLang="en-US" sz="1000" spc="120">
                          <a:latin typeface="+mn-ea"/>
                          <a:cs typeface="+mn-ea"/>
                          <a:sym typeface="+mn-ea"/>
                        </a:rPr>
                        <a:t>表格输出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10/10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已完成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6182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、（机械革命专案）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共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7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款机型，总结如下：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 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AHP336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，小板排线辅料给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工厂，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cs typeface="+mn-ea"/>
                          <a:sym typeface="+mn-ea"/>
                        </a:rPr>
                        <a:t>           </a:t>
                      </a:r>
                      <a:endParaRPr lang="en-US" altLang="zh-CN" sz="1000" b="0" spc="120">
                        <a:solidFill>
                          <a:srgbClr val="FF000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LNL336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LNL336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的钢网更改，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OLED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屏幕、小板排线、指纹风扇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释放，已完成；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3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RPL336：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扬声器定位在物料问题，供应商分析报告，研发设计超过物料安全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冗余，已完成；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171450" indent="-17145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RPL336_315B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60pcs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，软件释放，主板麦克风异常忽略，正常测试出货，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marL="171450" indent="-17145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Char char="•"/>
                      </a:pP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RPL336_S4_V2.0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100pcs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软件释放，更新软件正常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测试，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en-US" altLang="zh-CN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4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EM_LNL326_MPS_V1.0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OA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生产资料上传，例行完成首件问题确认；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IDL525_S_V2.2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：试产软件，工程文件释放，试产研发分析，开机方案释放，已完成；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AKK33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6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：试产，软件释放，正常测试出货给组装，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10/10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323342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、项目试产跟进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多项目并行跟进（共1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款）：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1. EM_JS8389_S4_APD_V1.0：OA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上传，试产软件和大货一起生产，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已完成；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         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2. EM_IDN126_315B_V2.0：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前摄后摄辅料备货，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OA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资料上传，测试架备货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6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台，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已完成；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3. MTL657-S5：9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日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生产；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4. IDN8139_S4_2C_V1.2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：试产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BOE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和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Acer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二维码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释放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已完成，测试夹具制作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6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台，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已完成；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5. EM-MTL338-315B_V1.1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月，无生产；</a:t>
                      </a:r>
                      <a:endParaRPr lang="zh-CN" altLang="en-US" sz="1000" b="0" spc="12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6. EM_MDS326_315B_V1.0：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7. AKK8169_315B_2CF_V1.0：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工程文件资料释放，软件释放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PVT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试产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完成；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8. WCL128：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小板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WiFi&amp;SIM&amp;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耳机小板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评审，工程文件上传，测试架制作，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已完成；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AP336_S4_2C_V1.0-Layout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，无生产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NVL326_315B_V1.0-Layout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试产完成，待完成拼版改善，跟进中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WCL356_496B_V1.0 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WCL236-315B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，待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13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AGP859_315B_V1.0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：待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14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NVL226_315B_V1.0 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评审完成；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RPL336-556B 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待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PTL859_LPCAMM2_V1.0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待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17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AP528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，试产整机备货，软件释放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待解决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Full-typec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无功能异常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跟进中；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10/10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 flipH="1">
            <a:off x="695325" y="387668"/>
            <a:ext cx="9139555" cy="43053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spAutoFit/>
          </a:bodyPr>
          <a:p>
            <a:pPr>
              <a:buClrTx/>
              <a:buSzTx/>
              <a:buFontTx/>
            </a:pPr>
            <a:r>
              <a:rPr lang="zh-CN" altLang="en-US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上周工作完成情况</a:t>
            </a:r>
            <a:endParaRPr lang="zh-CN" altLang="en-US" b="1" dirty="0">
              <a:solidFill>
                <a:srgbClr val="0E58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矩形: 单圆角 25"/>
          <p:cNvSpPr/>
          <p:nvPr>
            <p:custDataLst>
              <p:tags r:id="rId4"/>
            </p:custDataLst>
          </p:nvPr>
        </p:nvSpPr>
        <p:spPr>
          <a:xfrm>
            <a:off x="304800" y="43656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57600" y="322580"/>
            <a:ext cx="4707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上线</a:t>
            </a:r>
            <a:r>
              <a:rPr lang="zh-CN" altLang="en-US" sz="2800">
                <a:sym typeface="+mn-ea"/>
              </a:rPr>
              <a:t>量产</a:t>
            </a:r>
            <a:r>
              <a:rPr lang="zh-CN" altLang="en-US" sz="2800"/>
              <a:t>机型直通率</a:t>
            </a:r>
            <a:endParaRPr lang="en-US" altLang="zh-CN" sz="2800"/>
          </a:p>
        </p:txBody>
      </p:sp>
      <p:pic>
        <p:nvPicPr>
          <p:cNvPr id="8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32524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32524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2733338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4328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117157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6953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Rectangle_198"/>
          <p:cNvPicPr/>
          <p:nvPr/>
        </p:nvPicPr>
        <p:blipFill>
          <a:blip r:embed="rId9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Rectangle_198"/>
          <p:cNvPicPr/>
          <p:nvPr/>
        </p:nvPicPr>
        <p:blipFill>
          <a:blip r:embed="rId10"/>
          <a:stretch>
            <a:fillRect/>
          </a:stretch>
        </p:blipFill>
        <p:spPr>
          <a:xfrm>
            <a:off x="107823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Rectangle_198"/>
          <p:cNvPicPr/>
          <p:nvPr/>
        </p:nvPicPr>
        <p:blipFill>
          <a:blip r:embed="rId11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Rectangle_198"/>
          <p:cNvPicPr/>
          <p:nvPr/>
        </p:nvPicPr>
        <p:blipFill>
          <a:blip r:embed="rId11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" name="Rectangle_198"/>
          <p:cNvPicPr/>
          <p:nvPr/>
        </p:nvPicPr>
        <p:blipFill>
          <a:blip r:embed="rId10"/>
          <a:stretch>
            <a:fillRect/>
          </a:stretch>
        </p:blipFill>
        <p:spPr>
          <a:xfrm>
            <a:off x="112490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Rectangle_198"/>
          <p:cNvPicPr/>
          <p:nvPr/>
        </p:nvPicPr>
        <p:blipFill>
          <a:blip r:embed="rId12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Rectangle_198"/>
          <p:cNvPicPr/>
          <p:nvPr/>
        </p:nvPicPr>
        <p:blipFill>
          <a:blip r:embed="rId13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" name="Rectangle_198"/>
          <p:cNvPicPr/>
          <p:nvPr/>
        </p:nvPicPr>
        <p:blipFill>
          <a:blip r:embed="rId14"/>
          <a:stretch>
            <a:fillRect/>
          </a:stretch>
        </p:blipFill>
        <p:spPr>
          <a:xfrm>
            <a:off x="117157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Rectangle_198"/>
          <p:cNvPicPr/>
          <p:nvPr/>
        </p:nvPicPr>
        <p:blipFill>
          <a:blip r:embed="rId14"/>
          <a:stretch>
            <a:fillRect/>
          </a:stretch>
        </p:blipFill>
        <p:spPr>
          <a:xfrm>
            <a:off x="107823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103155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74066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" name="Rectangle_198"/>
          <p:cNvPicPr/>
          <p:nvPr/>
        </p:nvPicPr>
        <p:blipFill>
          <a:blip r:embed="rId18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" name="Rectangle_198"/>
          <p:cNvPicPr/>
          <p:nvPr/>
        </p:nvPicPr>
        <p:blipFill>
          <a:blip r:embed="rId19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Rectangle_198"/>
          <p:cNvPicPr/>
          <p:nvPr/>
        </p:nvPicPr>
        <p:blipFill>
          <a:blip r:embed="rId20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" name="Rectangle_198"/>
          <p:cNvPicPr/>
          <p:nvPr/>
        </p:nvPicPr>
        <p:blipFill>
          <a:blip r:embed="rId21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" name="Rectangle_198"/>
          <p:cNvPicPr/>
          <p:nvPr/>
        </p:nvPicPr>
        <p:blipFill>
          <a:blip r:embed="rId22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" name="Rectangle_198"/>
          <p:cNvPicPr/>
          <p:nvPr/>
        </p:nvPicPr>
        <p:blipFill>
          <a:blip r:embed="rId23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" name="Rectangle_198"/>
          <p:cNvPicPr/>
          <p:nvPr/>
        </p:nvPicPr>
        <p:blipFill>
          <a:blip r:embed="rId20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" name="Rectangle_198"/>
          <p:cNvPicPr/>
          <p:nvPr/>
        </p:nvPicPr>
        <p:blipFill>
          <a:blip r:embed="rId21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" name="Rectangle_198"/>
          <p:cNvPicPr/>
          <p:nvPr/>
        </p:nvPicPr>
        <p:blipFill>
          <a:blip r:embed="rId22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" name="Rectangle_198"/>
          <p:cNvPicPr/>
          <p:nvPr/>
        </p:nvPicPr>
        <p:blipFill>
          <a:blip r:embed="rId23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" name="Rectangle_198"/>
          <p:cNvPicPr/>
          <p:nvPr/>
        </p:nvPicPr>
        <p:blipFill>
          <a:blip r:embed="rId28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" name="Rectangle_198"/>
          <p:cNvPicPr/>
          <p:nvPr/>
        </p:nvPicPr>
        <p:blipFill>
          <a:blip r:embed="rId29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" name="Rectangle_198"/>
          <p:cNvPicPr/>
          <p:nvPr/>
        </p:nvPicPr>
        <p:blipFill>
          <a:blip r:embed="rId30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7" name="Rectangle_198"/>
          <p:cNvPicPr/>
          <p:nvPr/>
        </p:nvPicPr>
        <p:blipFill>
          <a:blip r:embed="rId28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8" name="Rectangle_198"/>
          <p:cNvPicPr/>
          <p:nvPr/>
        </p:nvPicPr>
        <p:blipFill>
          <a:blip r:embed="rId29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" name="Rectangle_198"/>
          <p:cNvPicPr/>
          <p:nvPr/>
        </p:nvPicPr>
        <p:blipFill>
          <a:blip r:embed="rId30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5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9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0" name="Rectangle_198"/>
          <p:cNvPicPr/>
          <p:nvPr/>
        </p:nvPicPr>
        <p:blipFill>
          <a:blip r:embed="rId3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1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" name="Rectangle_198"/>
          <p:cNvPicPr/>
          <p:nvPr/>
        </p:nvPicPr>
        <p:blipFill>
          <a:blip r:embed="rId3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7" name="Rectangle_198"/>
          <p:cNvPicPr/>
          <p:nvPr/>
        </p:nvPicPr>
        <p:blipFill>
          <a:blip r:embed="rId4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8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9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Rectangle_198"/>
          <p:cNvPicPr/>
          <p:nvPr/>
        </p:nvPicPr>
        <p:blipFill>
          <a:blip r:embed="rId38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Rectangle_198"/>
          <p:cNvPicPr/>
          <p:nvPr/>
        </p:nvPicPr>
        <p:blipFill>
          <a:blip r:embed="rId39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Rectangle_198"/>
          <p:cNvPicPr/>
          <p:nvPr/>
        </p:nvPicPr>
        <p:blipFill>
          <a:blip r:embed="rId40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-4191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-4191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4" name="Rectangle_198"/>
          <p:cNvPicPr/>
          <p:nvPr/>
        </p:nvPicPr>
        <p:blipFill>
          <a:blip r:embed="rId46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" name="Rectangle_198"/>
          <p:cNvPicPr/>
          <p:nvPr/>
        </p:nvPicPr>
        <p:blipFill>
          <a:blip r:embed="rId47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7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Rectangle_198"/>
          <p:cNvPicPr/>
          <p:nvPr/>
        </p:nvPicPr>
        <p:blipFill>
          <a:blip r:embed="rId49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1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5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6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9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0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1" name="Rectangle_198"/>
          <p:cNvPicPr/>
          <p:nvPr/>
        </p:nvPicPr>
        <p:blipFill>
          <a:blip r:embed="rId52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" name="Rectangle_198"/>
          <p:cNvPicPr/>
          <p:nvPr/>
        </p:nvPicPr>
        <p:blipFill>
          <a:blip r:embed="rId53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4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6" name="Rectangle_198"/>
          <p:cNvPicPr/>
          <p:nvPr/>
        </p:nvPicPr>
        <p:blipFill>
          <a:blip r:embed="rId5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7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8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1" name="Rectangle_198"/>
          <p:cNvPicPr/>
          <p:nvPr/>
        </p:nvPicPr>
        <p:blipFill>
          <a:blip r:embed="rId5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2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6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8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9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1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2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5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6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7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8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1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2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3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5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6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7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8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9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0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1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2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3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5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6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7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9" name="Rectangle_198"/>
          <p:cNvPicPr/>
          <p:nvPr/>
        </p:nvPicPr>
        <p:blipFill>
          <a:blip r:embed="rId65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0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1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2" name="Rectangle_198"/>
          <p:cNvPicPr/>
          <p:nvPr/>
        </p:nvPicPr>
        <p:blipFill>
          <a:blip r:embed="rId6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3" name="Rectangle_198"/>
          <p:cNvPicPr/>
          <p:nvPr/>
        </p:nvPicPr>
        <p:blipFill>
          <a:blip r:embed="rId6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" name="Rectangle_198"/>
          <p:cNvPicPr/>
          <p:nvPr/>
        </p:nvPicPr>
        <p:blipFill>
          <a:blip r:embed="rId69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6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7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8" name="Rectangle_198"/>
          <p:cNvPicPr/>
          <p:nvPr/>
        </p:nvPicPr>
        <p:blipFill>
          <a:blip r:embed="rId71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9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0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1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2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3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8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2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3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7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9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0" name="Rectangle_198"/>
          <p:cNvPicPr/>
          <p:nvPr/>
        </p:nvPicPr>
        <p:blipFill>
          <a:blip r:embed="rId6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1" name="Rectangle_198"/>
          <p:cNvPicPr/>
          <p:nvPr/>
        </p:nvPicPr>
        <p:blipFill>
          <a:blip r:embed="rId6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2" name="Rectangle_198"/>
          <p:cNvPicPr/>
          <p:nvPr/>
        </p:nvPicPr>
        <p:blipFill>
          <a:blip r:embed="rId69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3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4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6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0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9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0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1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2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6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7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" name="Rectangle_198"/>
          <p:cNvPicPr/>
          <p:nvPr/>
        </p:nvPicPr>
        <p:blipFill>
          <a:blip r:embed="rId75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2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3" name="Rectangle_198"/>
          <p:cNvPicPr/>
          <p:nvPr/>
        </p:nvPicPr>
        <p:blipFill>
          <a:blip r:embed="rId7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4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6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7" name="Rectangle_198"/>
          <p:cNvPicPr/>
          <p:nvPr/>
        </p:nvPicPr>
        <p:blipFill>
          <a:blip r:embed="rId7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8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" name="Rectangle_198"/>
          <p:cNvPicPr/>
          <p:nvPr/>
        </p:nvPicPr>
        <p:blipFill>
          <a:blip r:embed="rId80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0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1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2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3" name="Rectangle_198"/>
          <p:cNvPicPr/>
          <p:nvPr/>
        </p:nvPicPr>
        <p:blipFill>
          <a:blip r:embed="rId81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4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5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7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8" name="Rectangle_198"/>
          <p:cNvPicPr/>
          <p:nvPr/>
        </p:nvPicPr>
        <p:blipFill>
          <a:blip r:embed="rId83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9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0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1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2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3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4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5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" name="Rectangle_198"/>
          <p:cNvPicPr/>
          <p:nvPr/>
        </p:nvPicPr>
        <p:blipFill>
          <a:blip r:embed="rId8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8" name="Rectangle_198"/>
          <p:cNvPicPr/>
          <p:nvPr/>
        </p:nvPicPr>
        <p:blipFill>
          <a:blip r:embed="rId8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9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0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1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2" name="Rectangle_198"/>
          <p:cNvPicPr/>
          <p:nvPr/>
        </p:nvPicPr>
        <p:blipFill>
          <a:blip r:embed="rId87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3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4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9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0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1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2" name="Rectangle_198"/>
          <p:cNvPicPr/>
          <p:nvPr/>
        </p:nvPicPr>
        <p:blipFill>
          <a:blip r:embed="rId85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3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4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5" name="Rectangle_198"/>
          <p:cNvPicPr/>
          <p:nvPr/>
        </p:nvPicPr>
        <p:blipFill>
          <a:blip r:embed="rId87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7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8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9" name="Rectangle_198"/>
          <p:cNvPicPr/>
          <p:nvPr/>
        </p:nvPicPr>
        <p:blipFill>
          <a:blip r:embed="rId86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0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1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2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3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4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5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6" name="Rectangle_198"/>
          <p:cNvPicPr/>
          <p:nvPr/>
        </p:nvPicPr>
        <p:blipFill>
          <a:blip r:embed="rId90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4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8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9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0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1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2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3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4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5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6" name="Rectangle_198"/>
          <p:cNvPicPr/>
          <p:nvPr/>
        </p:nvPicPr>
        <p:blipFill>
          <a:blip r:embed="rId9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" name="Rectangle_198"/>
          <p:cNvPicPr/>
          <p:nvPr/>
        </p:nvPicPr>
        <p:blipFill>
          <a:blip r:embed="rId9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1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2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3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4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5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6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" name="Rectangle_198"/>
          <p:cNvPicPr/>
          <p:nvPr/>
        </p:nvPicPr>
        <p:blipFill>
          <a:blip r:embed="rId95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5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9810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9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9810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0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9810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1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9810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2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3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4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5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6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9" name="Rectangle_198"/>
          <p:cNvPicPr/>
          <p:nvPr/>
        </p:nvPicPr>
        <p:blipFill>
          <a:blip r:embed="rId9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0" name="Rectangle_198"/>
          <p:cNvPicPr/>
          <p:nvPr/>
        </p:nvPicPr>
        <p:blipFill>
          <a:blip r:embed="rId9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1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2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3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4" name="Rectangle_198"/>
          <p:cNvPicPr/>
          <p:nvPr/>
        </p:nvPicPr>
        <p:blipFill>
          <a:blip r:embed="rId95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5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6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8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9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0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1" name="Rectangle_198"/>
          <p:cNvPicPr/>
          <p:nvPr/>
        </p:nvPicPr>
        <p:blipFill>
          <a:blip r:embed="rId9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2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3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4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5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6" name="Rectangle_198"/>
          <p:cNvPicPr/>
          <p:nvPr/>
        </p:nvPicPr>
        <p:blipFill>
          <a:blip r:embed="rId97"/>
          <a:stretch>
            <a:fillRect/>
          </a:stretch>
        </p:blipFill>
        <p:spPr>
          <a:xfrm>
            <a:off x="112490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7" name="Rectangle_198"/>
          <p:cNvPicPr/>
          <p:nvPr/>
        </p:nvPicPr>
        <p:blipFill>
          <a:blip r:embed="rId98"/>
          <a:stretch>
            <a:fillRect/>
          </a:stretch>
        </p:blipFill>
        <p:spPr>
          <a:xfrm>
            <a:off x="12182475" y="14478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" name="Rectangle_198"/>
          <p:cNvPicPr/>
          <p:nvPr/>
        </p:nvPicPr>
        <p:blipFill>
          <a:blip r:embed="rId99"/>
          <a:stretch>
            <a:fillRect/>
          </a:stretch>
        </p:blipFill>
        <p:spPr>
          <a:xfrm>
            <a:off x="12182475" y="14478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49" name="表格 348"/>
          <p:cNvGraphicFramePr/>
          <p:nvPr>
            <p:custDataLst>
              <p:tags r:id="rId100"/>
            </p:custDataLst>
          </p:nvPr>
        </p:nvGraphicFramePr>
        <p:xfrm>
          <a:off x="765175" y="1372235"/>
          <a:ext cx="10949940" cy="4900930"/>
        </p:xfrm>
        <a:graphic>
          <a:graphicData uri="http://schemas.openxmlformats.org/drawingml/2006/table">
            <a:tbl>
              <a:tblPr/>
              <a:tblGrid>
                <a:gridCol w="1461768"/>
                <a:gridCol w="2371503"/>
                <a:gridCol w="2372222"/>
                <a:gridCol w="2372224"/>
                <a:gridCol w="2372223"/>
              </a:tblGrid>
              <a:tr h="3790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序号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3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机型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EM_LNL326_MPS_V1.0_20260430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EM_LNL336_V2.1</a:t>
                      </a: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主板 </a:t>
                      </a: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PCBA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EM_AHP336_315B_V3.1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EM-ARB336-315B-DX-V1.2-20260514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目标值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85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SMT投入数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7444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4964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1460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400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7211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SMT不良数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19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16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908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SMT直通数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7425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4948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1456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400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45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SMT直通率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99.74%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99.68%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99.73%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100%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74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测试投入数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7976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4644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2709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400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测试不良数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25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91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28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测试直通数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7951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4553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2700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372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测试直通率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99.69%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98.04%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99.67%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93.00%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总直通率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99.72%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98.86%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99.70%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96.50%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通过情况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FF000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FF0000"/>
                        </a:buClr>
                        <a:buSzTx/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   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50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-28613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1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-28613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2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-28613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3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-28613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4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-19278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5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-19278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6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-9944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7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-9944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9" name="Rectangle_198"/>
          <p:cNvPicPr/>
          <p:nvPr/>
        </p:nvPicPr>
        <p:blipFill>
          <a:blip r:embed="rId101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0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1" name="Rectangle_198"/>
          <p:cNvPicPr/>
          <p:nvPr/>
        </p:nvPicPr>
        <p:blipFill>
          <a:blip r:embed="rId102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2" name="Rectangle_198"/>
          <p:cNvPicPr/>
          <p:nvPr/>
        </p:nvPicPr>
        <p:blipFill>
          <a:blip r:embed="rId103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3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4" name="Rectangle_198"/>
          <p:cNvPicPr/>
          <p:nvPr/>
        </p:nvPicPr>
        <p:blipFill>
          <a:blip r:embed="rId104"/>
          <a:stretch>
            <a:fillRect/>
          </a:stretch>
        </p:blipFill>
        <p:spPr>
          <a:xfrm>
            <a:off x="8724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5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8724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6" name="Rectangle_198"/>
          <p:cNvPicPr/>
          <p:nvPr/>
        </p:nvPicPr>
        <p:blipFill>
          <a:blip r:embed="rId105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7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18059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9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0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1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18059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2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27393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3" name="Rectangle_198"/>
          <p:cNvPicPr/>
          <p:nvPr/>
        </p:nvPicPr>
        <p:blipFill>
          <a:blip r:embed="rId96"/>
          <a:stretch>
            <a:fillRect/>
          </a:stretch>
        </p:blipFill>
        <p:spPr>
          <a:xfrm>
            <a:off x="27393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4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36728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36728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6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46062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7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46062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" name="Rectangle_198"/>
          <p:cNvPicPr/>
          <p:nvPr/>
        </p:nvPicPr>
        <p:blipFill>
          <a:blip r:embed="rId97"/>
          <a:stretch>
            <a:fillRect/>
          </a:stretch>
        </p:blipFill>
        <p:spPr>
          <a:xfrm>
            <a:off x="74066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9" name="Rectangle_198"/>
          <p:cNvPicPr/>
          <p:nvPr/>
        </p:nvPicPr>
        <p:blipFill>
          <a:blip r:embed="rId98"/>
          <a:stretch>
            <a:fillRect/>
          </a:stretch>
        </p:blipFill>
        <p:spPr>
          <a:xfrm>
            <a:off x="8563610" y="14478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0" name="Rectangle_198"/>
          <p:cNvPicPr/>
          <p:nvPr/>
        </p:nvPicPr>
        <p:blipFill>
          <a:blip r:embed="rId99"/>
          <a:stretch>
            <a:fillRect/>
          </a:stretch>
        </p:blipFill>
        <p:spPr>
          <a:xfrm>
            <a:off x="8563610" y="14478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765175" y="934720"/>
            <a:ext cx="72174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总结：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、个人量产项目一共</a:t>
            </a:r>
            <a:r>
              <a:rPr lang="en-US" altLang="zh-CN" sz="1600">
                <a:sym typeface="+mn-ea"/>
              </a:rPr>
              <a:t>4</a:t>
            </a:r>
            <a:r>
              <a:rPr lang="zh-CN" altLang="en-US" sz="1600">
                <a:sym typeface="+mn-ea"/>
              </a:rPr>
              <a:t>个，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个达标，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个</a:t>
            </a:r>
            <a:r>
              <a:rPr lang="zh-CN" altLang="en-US" sz="1600">
                <a:sym typeface="+mn-ea"/>
              </a:rPr>
              <a:t>不达标；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 flipH="1">
            <a:off x="695325" y="387668"/>
            <a:ext cx="9139555" cy="43053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spAutoFit/>
          </a:bodyPr>
          <a:p>
            <a:pPr>
              <a:buClrTx/>
              <a:buSzTx/>
              <a:buFontTx/>
            </a:pPr>
            <a:r>
              <a:rPr lang="zh-CN" altLang="en-US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量产</a:t>
            </a:r>
            <a:r>
              <a:rPr lang="zh-CN" altLang="en-US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订单上周工作完成情况</a:t>
            </a:r>
            <a:r>
              <a:rPr lang="en-US" altLang="zh-CN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 </a:t>
            </a:r>
            <a:r>
              <a:rPr lang="zh-CN" altLang="en-US" sz="2800">
                <a:sym typeface="+mn-ea"/>
              </a:rPr>
              <a:t>生产异常统计</a:t>
            </a:r>
            <a:endParaRPr lang="en-US" altLang="zh-CN" sz="2800" b="1" dirty="0">
              <a:solidFill>
                <a:srgbClr val="0E58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矩形: 单圆角 25"/>
          <p:cNvSpPr/>
          <p:nvPr>
            <p:custDataLst>
              <p:tags r:id="rId4"/>
            </p:custDataLst>
          </p:nvPr>
        </p:nvSpPr>
        <p:spPr>
          <a:xfrm>
            <a:off x="304800" y="43656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表格 4"/>
          <p:cNvGraphicFramePr/>
          <p:nvPr>
            <p:custDataLst>
              <p:tags r:id="rId9"/>
            </p:custDataLst>
          </p:nvPr>
        </p:nvGraphicFramePr>
        <p:xfrm>
          <a:off x="2540" y="961390"/>
          <a:ext cx="12189460" cy="5896610"/>
        </p:xfrm>
        <a:graphic>
          <a:graphicData uri="http://schemas.openxmlformats.org/drawingml/2006/table">
            <a:tbl>
              <a:tblPr/>
              <a:tblGrid>
                <a:gridCol w="424815"/>
                <a:gridCol w="586740"/>
                <a:gridCol w="625475"/>
                <a:gridCol w="854710"/>
                <a:gridCol w="281305"/>
                <a:gridCol w="422275"/>
                <a:gridCol w="531495"/>
                <a:gridCol w="466090"/>
                <a:gridCol w="708025"/>
                <a:gridCol w="1325880"/>
                <a:gridCol w="582295"/>
                <a:gridCol w="417830"/>
                <a:gridCol w="300990"/>
                <a:gridCol w="1224280"/>
                <a:gridCol w="1598295"/>
                <a:gridCol w="1096010"/>
                <a:gridCol w="272415"/>
                <a:gridCol w="470535"/>
              </a:tblGrid>
              <a:tr h="374015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日期 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  <a:cs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加工厂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机型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订单号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批量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客户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异常类型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异常比例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异常损失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+mn-ea"/>
                          <a:cs typeface="+mn-ea"/>
                        </a:rPr>
                        <a:t>($)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+mn-ea"/>
                        <a:cs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问题描叙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责任部门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责任人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归类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原因分析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临时措施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长期预防措施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状态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+mn-ea"/>
                        </a:rPr>
                        <a:t>记录人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28892" marR="28892" marT="19367" marB="1936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8"/>
                    </a:solidFill>
                  </a:tcPr>
                </a:tc>
              </a:tr>
              <a:tr h="276161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2026/9/25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DCW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EM-ARB336-315B-DX-V1.2-20260514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EM-DX16-NS-ARB336-315B-H_Ben_20260512_01+02_01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400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荣耀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量产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9.63%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待工厂</a:t>
                      </a:r>
                      <a:r>
                        <a:rPr lang="zh-CN" altLang="en-US" sz="1100"/>
                        <a:t>提报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在功能测试时，发现不开机现象，投入100 </a:t>
                      </a:r>
                      <a:r>
                        <a:rPr lang="en-US" altLang="zh-CN" sz="1100"/>
                        <a:t>PCS</a:t>
                      </a:r>
                      <a:r>
                        <a:rPr lang="zh-CN" altLang="en-US" sz="1100"/>
                        <a:t>有12</a:t>
                      </a:r>
                      <a:r>
                        <a:rPr lang="en-US" altLang="zh-CN" sz="1100"/>
                        <a:t>PCS</a:t>
                      </a:r>
                      <a:r>
                        <a:rPr lang="zh-CN" altLang="en-US" sz="1100"/>
                        <a:t>不良，不良率12%。</a:t>
                      </a:r>
                      <a:endParaRPr lang="zh-CN" altLang="en-US" sz="1100"/>
                    </a:p>
                    <a:p>
                      <a:pPr algn="l"/>
                      <a:r>
                        <a:rPr lang="zh-CN" altLang="en-US" sz="1100"/>
                        <a:t>目前分析5 </a:t>
                      </a:r>
                      <a:r>
                        <a:rPr lang="en-US" altLang="zh-CN" sz="1100"/>
                        <a:t>PCS</a:t>
                      </a:r>
                      <a:r>
                        <a:rPr lang="zh-CN" altLang="en-US" sz="1100"/>
                        <a:t>为：小板上的</a:t>
                      </a:r>
                      <a:r>
                        <a:rPr lang="en-US" altLang="zh-CN" sz="1100"/>
                        <a:t>U5</a:t>
                      </a:r>
                      <a:r>
                        <a:rPr lang="zh-CN" altLang="en-US" sz="1100"/>
                        <a:t>（</a:t>
                      </a:r>
                      <a:r>
                        <a:rPr lang="en-US" altLang="zh-CN" sz="1100"/>
                        <a:t>01.EMA.S012GA4961A</a:t>
                      </a:r>
                      <a:r>
                        <a:rPr lang="zh-CN" altLang="en-US" sz="1100"/>
                        <a:t>）</a:t>
                      </a:r>
                      <a:r>
                        <a:rPr lang="en-US" altLang="zh-CN" sz="1100"/>
                        <a:t> </a:t>
                      </a:r>
                      <a:r>
                        <a:rPr lang="zh-CN" altLang="en-US" sz="1100"/>
                        <a:t>位置</a:t>
                      </a:r>
                      <a:r>
                        <a:rPr lang="en-US" altLang="zh-CN" sz="1100"/>
                        <a:t>DDR</a:t>
                      </a:r>
                      <a:r>
                        <a:rPr lang="zh-CN" altLang="en-US" sz="1100"/>
                        <a:t>不良。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亿高数码</a:t>
                      </a:r>
                      <a:r>
                        <a:rPr lang="en-US" altLang="zh-CN" sz="1100"/>
                        <a:t>-PCBA</a:t>
                      </a:r>
                      <a:r>
                        <a:rPr lang="zh-CN" altLang="en-US" sz="1100"/>
                        <a:t>质量管理中心</a:t>
                      </a:r>
                      <a:r>
                        <a:rPr lang="en-US" altLang="zh-CN" sz="1100"/>
                        <a:t>-</a:t>
                      </a:r>
                      <a:r>
                        <a:rPr lang="zh-CN" altLang="en-US" sz="1100"/>
                        <a:t>质量管理部</a:t>
                      </a:r>
                      <a:r>
                        <a:rPr lang="en-US" altLang="zh-CN" sz="1100"/>
                        <a:t>-SQA</a:t>
                      </a:r>
                      <a:r>
                        <a:rPr lang="zh-CN" altLang="en-US" sz="1100"/>
                        <a:t>管理组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宋丽霞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物料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物料异常</a:t>
                      </a:r>
                      <a:r>
                        <a:rPr lang="en-US" altLang="zh-CN" sz="1100"/>
                        <a:t>，</a:t>
                      </a:r>
                      <a:r>
                        <a:rPr lang="zh-CN" altLang="en-US" sz="1100"/>
                        <a:t>不良现象随着物料</a:t>
                      </a:r>
                      <a:r>
                        <a:rPr lang="zh-CN" altLang="en-US" sz="1100"/>
                        <a:t>走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调不良物料给研发复判</a:t>
                      </a:r>
                      <a:r>
                        <a:rPr lang="en-US" altLang="zh-CN" sz="1100"/>
                        <a:t>，</a:t>
                      </a:r>
                      <a:r>
                        <a:rPr lang="zh-CN" altLang="en-US" sz="1100"/>
                        <a:t>其中</a:t>
                      </a:r>
                      <a:r>
                        <a:rPr lang="en-US" altLang="zh-CN" sz="1100"/>
                        <a:t>4pcs</a:t>
                      </a:r>
                      <a:r>
                        <a:rPr lang="zh-CN" altLang="en-US" sz="1100"/>
                        <a:t>核实</a:t>
                      </a:r>
                      <a:r>
                        <a:rPr lang="en-US" altLang="zh-CN" sz="1100"/>
                        <a:t>4pcs</a:t>
                      </a:r>
                      <a:r>
                        <a:rPr lang="zh-CN" altLang="en-US" sz="1100"/>
                        <a:t>物料不良</a:t>
                      </a:r>
                      <a:r>
                        <a:rPr lang="en-US" altLang="zh-CN" sz="1100"/>
                        <a:t>，</a:t>
                      </a:r>
                      <a:r>
                        <a:rPr lang="zh-CN" altLang="en-US" sz="1100"/>
                        <a:t>结合</a:t>
                      </a:r>
                      <a:r>
                        <a:rPr lang="en-US" altLang="zh-CN" sz="1100"/>
                        <a:t>SQE</a:t>
                      </a:r>
                      <a:r>
                        <a:rPr lang="zh-CN" altLang="en-US" sz="1100"/>
                        <a:t>的建议</a:t>
                      </a:r>
                      <a:r>
                        <a:rPr lang="en-US" altLang="zh-CN" sz="1100"/>
                        <a:t>，</a:t>
                      </a:r>
                      <a:r>
                        <a:rPr lang="zh-CN" altLang="en-US" sz="1100"/>
                        <a:t>工厂领料更换</a:t>
                      </a:r>
                      <a:r>
                        <a:rPr lang="en-US" altLang="zh-CN" sz="1100"/>
                        <a:t>；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待项目评估后续是否继续使用资源</a:t>
                      </a:r>
                      <a:r>
                        <a:rPr lang="zh-CN" altLang="en-US" sz="1100"/>
                        <a:t>料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跟进中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罗鹏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60980">
                <a:tc>
                  <a:txBody>
                    <a:bodyPr/>
                    <a:p>
                      <a:pPr fontAlgn="ctr"/>
                      <a:r>
                        <a:rPr lang="en-US" altLang="zh-CN" sz="1100"/>
                        <a:t>2026/9/30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/>
                        <a:t>GH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EM_LNL336_V2.1</a:t>
                      </a:r>
                      <a:r>
                        <a:rPr lang="zh-CN" altLang="en-US" sz="11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主板 </a:t>
                      </a:r>
                      <a:r>
                        <a:rPr lang="en-US" altLang="zh-CN" sz="11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PCBA</a:t>
                      </a:r>
                      <a:endParaRPr lang="en-US" altLang="zh-CN" sz="11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/>
                        <a:t>EM-DL14-NS-LNL336-MOP-MR_WX_20260707_01_01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/>
                        <a:t>2000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机械</a:t>
                      </a:r>
                      <a:r>
                        <a:rPr lang="zh-CN" altLang="en-US" sz="1100"/>
                        <a:t>革命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量产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不良率5%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无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100"/>
                        <a:t>LNL336</a:t>
                      </a:r>
                      <a:r>
                        <a:rPr lang="zh-CN" altLang="en-US" sz="1100"/>
                        <a:t>主板测试投入</a:t>
                      </a:r>
                      <a:r>
                        <a:rPr lang="en-US" altLang="en-US" sz="1100"/>
                        <a:t>200PCS</a:t>
                      </a:r>
                      <a:r>
                        <a:rPr lang="zh-CN" altLang="en-US" sz="1100"/>
                        <a:t>，出现不开机不良</a:t>
                      </a:r>
                      <a:r>
                        <a:rPr lang="en-US" altLang="en-US" sz="1100"/>
                        <a:t>10PCS</a:t>
                      </a:r>
                      <a:r>
                        <a:rPr lang="zh-CN" altLang="en-US" sz="1100"/>
                        <a:t>，不良率</a:t>
                      </a:r>
                      <a:r>
                        <a:rPr lang="en-US" altLang="en-US" sz="1100"/>
                        <a:t>5%</a:t>
                      </a:r>
                      <a:r>
                        <a:rPr lang="zh-CN" altLang="en-US" sz="1100"/>
                        <a:t>，异常物料料号：</a:t>
                      </a:r>
                      <a:r>
                        <a:rPr lang="en-US" altLang="en-US" sz="1100"/>
                        <a:t>01.EZ8.6252121600A</a:t>
                      </a:r>
                      <a:r>
                        <a:rPr lang="zh-CN" altLang="en-US" sz="1100"/>
                        <a:t>，供应商：</a:t>
                      </a:r>
                      <a:r>
                        <a:rPr lang="en-US" altLang="en-US" sz="1100"/>
                        <a:t>V0104230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en-US" sz="1100"/>
                        <a:t>D/C:260714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en-US" sz="1100"/>
                        <a:t>LOT:20260714</a:t>
                      </a:r>
                      <a:endParaRPr lang="en-US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工厂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罗廷健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制程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工厂首家未核对物料出物料的</a:t>
                      </a:r>
                      <a:r>
                        <a:rPr lang="en-US" altLang="zh-CN" sz="1100"/>
                        <a:t>PIN</a:t>
                      </a:r>
                      <a:r>
                        <a:rPr lang="zh-CN" altLang="en-US" sz="1100"/>
                        <a:t>于</a:t>
                      </a:r>
                      <a:r>
                        <a:rPr lang="en-US" altLang="zh-CN" sz="1100"/>
                        <a:t>PCB</a:t>
                      </a:r>
                      <a:r>
                        <a:rPr lang="zh-CN" altLang="en-US" sz="1100"/>
                        <a:t>焊盘</a:t>
                      </a:r>
                      <a:r>
                        <a:rPr lang="zh-CN" altLang="en-US" sz="1100"/>
                        <a:t>不一致，第一次量产未识别</a:t>
                      </a:r>
                      <a:r>
                        <a:rPr lang="en-US" altLang="zh-CN" sz="1100"/>
                        <a:t>，</a:t>
                      </a:r>
                      <a:r>
                        <a:rPr lang="zh-CN" altLang="en-US" sz="1100"/>
                        <a:t>没出</a:t>
                      </a:r>
                      <a:r>
                        <a:rPr lang="zh-CN" altLang="en-US" sz="1100"/>
                        <a:t>问题，第二次量产问题</a:t>
                      </a:r>
                      <a:r>
                        <a:rPr lang="zh-CN" altLang="en-US" sz="1100"/>
                        <a:t>暴露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高温胶封孔堵住多余的位置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/>
                        <a:t>1</a:t>
                      </a:r>
                      <a:r>
                        <a:rPr lang="zh-CN" altLang="en-US" sz="1100"/>
                        <a:t>天内更换</a:t>
                      </a:r>
                      <a:r>
                        <a:rPr lang="zh-CN" altLang="en-US" sz="1100"/>
                        <a:t>钢网更换钢网</a:t>
                      </a:r>
                      <a:r>
                        <a:rPr lang="en-US" altLang="zh-CN" sz="1100"/>
                        <a:t>；</a:t>
                      </a:r>
                      <a:endParaRPr lang="en-US" altLang="zh-CN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已完成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/>
                        <a:t>罗鹏</a:t>
                      </a:r>
                      <a:endParaRPr lang="zh-CN" altLang="en-US" sz="1100"/>
                    </a:p>
                  </a:txBody>
                  <a:tcPr marL="23177" marR="23177" marT="15557" marB="1555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 flipH="1">
            <a:off x="615949" y="132461"/>
            <a:ext cx="2133600" cy="43053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spAutoFit/>
          </a:bodyPr>
          <a:p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下周</a:t>
            </a:r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工作进展</a:t>
            </a:r>
            <a:endParaRPr lang="zh-CN" altLang="en-US" sz="2800" b="1" dirty="0">
              <a:solidFill>
                <a:srgbClr val="0E589D"/>
              </a:solidFill>
              <a:cs typeface="+mn-ea"/>
              <a:sym typeface="+mn-lt"/>
            </a:endParaRPr>
          </a:p>
        </p:txBody>
      </p:sp>
      <p:sp>
        <p:nvSpPr>
          <p:cNvPr id="4" name="矩形: 单圆角 25"/>
          <p:cNvSpPr/>
          <p:nvPr>
            <p:custDataLst>
              <p:tags r:id="rId2"/>
            </p:custDataLst>
          </p:nvPr>
        </p:nvSpPr>
        <p:spPr>
          <a:xfrm>
            <a:off x="198755" y="13303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0" y="669290"/>
          <a:ext cx="12192635" cy="6188710"/>
        </p:xfrm>
        <a:graphic>
          <a:graphicData uri="http://schemas.openxmlformats.org/drawingml/2006/table">
            <a:tbl>
              <a:tblPr firstRow="1" bandRow="1"/>
              <a:tblGrid>
                <a:gridCol w="1837055"/>
                <a:gridCol w="7568565"/>
                <a:gridCol w="1555750"/>
                <a:gridCol w="1231265"/>
              </a:tblGrid>
              <a:tr h="4114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序号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事项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计划完成时间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事项状态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5847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、（荣耀专案）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、转接小板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PCB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钢网按照客户建议改善后上锡情况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后续对于资源料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DDR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的管控情况；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10/16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3105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、（机械革命专案）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共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7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款机型，总结如下：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AHP336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，例行完成生产异常问题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处理；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        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LNL336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例行完成生产异常问题处理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3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RPL336：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例行完成生产异常问题处理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;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4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EM_APX336_S5_V2.1：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无生产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 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EM_LNL326_MPS_V1.0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：有生产，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例行完成生产异常问题处理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IDL525_S_V2.2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：调板给研发复现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完成试产结单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7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AKK336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：无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生产；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10/16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3335655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、项目试产跟进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多项目并行跟进（共1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款）：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1. EM_JS8389_S4_APD_V1.0：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下周有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2.5k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生产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例行跟进首件等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异常；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         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2. EM_IDN126_315B_V2.0：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下周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300pcs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小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pp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生产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例行跟进小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pp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生产情况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；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3. MTL657-S5：9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日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系统无订单；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4. IDN8139_S4_2C_V1.2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：跟进小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pp350pcs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生产情况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做好线前二维码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（Acer&amp;BOE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码释放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）；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5. EM-MTL338-315B_V1.1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月，无生产；</a:t>
                      </a:r>
                      <a:endParaRPr lang="zh-CN" altLang="en-US" sz="1000" b="0" spc="12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6. EM_MDS326_315B_V1.0：it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系统无订单；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7. AKK8169_315B_2CF_V1.0：it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系统无订单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8. WCL128：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完成线前准备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测试架制作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样机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软件释放工厂等；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AP336_S4_2C_V1.0-Layout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，首次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试产已完成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目前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系统无订单；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NVL326_315B_V1.0-Layout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已完成，待完成转接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小板拼版改善，跟进中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WCL356_496B_V1.0 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，首次试产已完成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目前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系统无订单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12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WCL236-315B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，待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13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AGP859_315B_V1.0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系统无订单；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14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NVL226_315B_V1.0 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20pcs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试产订单已下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测试架制作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样机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软件释放工厂等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15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RPL336-556B 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：待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16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PTL859_LPCAMM2_V1.0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系统无订单；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17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AP528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，完成研发试产跟进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type-c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无全功能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异常；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10/16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chemeClr val="accent1">
                <a:lumMod val="5000"/>
                <a:lumOff val="95000"/>
              </a:schemeClr>
            </a:gs>
            <a:gs pos="100000">
              <a:srgbClr val="2573C5"/>
            </a:gs>
          </a:gsLst>
          <a:lin ang="161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2633fa96c7a8b56f4177907175a6162929aa6e364f05e7-ouPNBF"/>
          <p:cNvPicPr>
            <a:picLocks noChangeAspect="1"/>
          </p:cNvPicPr>
          <p:nvPr/>
        </p:nvPicPr>
        <p:blipFill>
          <a:blip r:embed="rId1"/>
          <a:srcRect l="3866" t="21982" r="65111" b="8191"/>
          <a:stretch>
            <a:fillRect/>
          </a:stretch>
        </p:blipFill>
        <p:spPr>
          <a:xfrm>
            <a:off x="-1693" y="3387"/>
            <a:ext cx="4163060" cy="6841913"/>
          </a:xfrm>
          <a:prstGeom prst="rect">
            <a:avLst/>
          </a:prstGeom>
        </p:spPr>
      </p:pic>
      <p:pic>
        <p:nvPicPr>
          <p:cNvPr id="34" name="图片 33" descr="楼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3477"/>
          <a:stretch>
            <a:fillRect/>
          </a:stretch>
        </p:blipFill>
        <p:spPr>
          <a:xfrm>
            <a:off x="3241040" y="2567093"/>
            <a:ext cx="5626100" cy="4300220"/>
          </a:xfrm>
          <a:prstGeom prst="rect">
            <a:avLst/>
          </a:prstGeom>
        </p:spPr>
      </p:pic>
      <p:sp>
        <p:nvSpPr>
          <p:cNvPr id="3" name="任意多边形 2"/>
          <p:cNvSpPr/>
          <p:nvPr/>
        </p:nvSpPr>
        <p:spPr>
          <a:xfrm>
            <a:off x="4177453" y="3224107"/>
            <a:ext cx="3173307" cy="3651673"/>
          </a:xfrm>
          <a:custGeom>
            <a:avLst/>
            <a:gdLst>
              <a:gd name="connsiteX0" fmla="*/ 23 w 3748"/>
              <a:gd name="connsiteY0" fmla="*/ 4284 h 4313"/>
              <a:gd name="connsiteX1" fmla="*/ 0 w 3748"/>
              <a:gd name="connsiteY1" fmla="*/ 865 h 4313"/>
              <a:gd name="connsiteX2" fmla="*/ 2242 w 3748"/>
              <a:gd name="connsiteY2" fmla="*/ 0 h 4313"/>
              <a:gd name="connsiteX3" fmla="*/ 3736 w 3748"/>
              <a:gd name="connsiteY3" fmla="*/ 611 h 4313"/>
              <a:gd name="connsiteX4" fmla="*/ 3748 w 3748"/>
              <a:gd name="connsiteY4" fmla="*/ 4313 h 4313"/>
              <a:gd name="connsiteX5" fmla="*/ 1755 w 3748"/>
              <a:gd name="connsiteY5" fmla="*/ 4307 h 4313"/>
              <a:gd name="connsiteX6" fmla="*/ 23 w 3748"/>
              <a:gd name="connsiteY6" fmla="*/ 4284 h 4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48" h="4313">
                <a:moveTo>
                  <a:pt x="23" y="4284"/>
                </a:moveTo>
                <a:lnTo>
                  <a:pt x="0" y="865"/>
                </a:lnTo>
                <a:lnTo>
                  <a:pt x="2242" y="0"/>
                </a:lnTo>
                <a:lnTo>
                  <a:pt x="3736" y="611"/>
                </a:lnTo>
                <a:lnTo>
                  <a:pt x="3748" y="4313"/>
                </a:lnTo>
                <a:lnTo>
                  <a:pt x="1755" y="4307"/>
                </a:lnTo>
                <a:lnTo>
                  <a:pt x="23" y="4284"/>
                </a:lnTo>
                <a:close/>
              </a:path>
            </a:pathLst>
          </a:custGeom>
          <a:solidFill>
            <a:srgbClr val="3A80CB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5" name="图片 4" descr="331cabe53f43fbe1da4a3e33d09e818052561738128f3-EX1bqd"/>
          <p:cNvPicPr>
            <a:picLocks noChangeAspect="1"/>
          </p:cNvPicPr>
          <p:nvPr/>
        </p:nvPicPr>
        <p:blipFill>
          <a:blip r:embed="rId4">
            <a:alphaModFix amt="69000"/>
          </a:blip>
          <a:srcRect l="6282" t="19792" r="62173" b="59352"/>
          <a:stretch>
            <a:fillRect/>
          </a:stretch>
        </p:blipFill>
        <p:spPr>
          <a:xfrm rot="19200000">
            <a:off x="6517640" y="3242733"/>
            <a:ext cx="473287" cy="386927"/>
          </a:xfrm>
          <a:prstGeom prst="rect">
            <a:avLst/>
          </a:prstGeom>
        </p:spPr>
      </p:pic>
      <p:pic>
        <p:nvPicPr>
          <p:cNvPr id="31" name="图片 30" descr="2633fa96c7a8b56f4177907175a6162929aa6e364f05e7-ouPNBF"/>
          <p:cNvPicPr>
            <a:picLocks noChangeAspect="1"/>
          </p:cNvPicPr>
          <p:nvPr/>
        </p:nvPicPr>
        <p:blipFill>
          <a:blip r:embed="rId1"/>
          <a:srcRect l="58750" t="21982" r="5073" b="8191"/>
          <a:stretch>
            <a:fillRect/>
          </a:stretch>
        </p:blipFill>
        <p:spPr>
          <a:xfrm>
            <a:off x="7336367" y="15240"/>
            <a:ext cx="4854787" cy="6841913"/>
          </a:xfrm>
          <a:prstGeom prst="rect">
            <a:avLst/>
          </a:prstGeom>
        </p:spPr>
      </p:pic>
      <p:pic>
        <p:nvPicPr>
          <p:cNvPr id="4" name="图片 3" descr="331cabe53f43fbe1da4a3e33d09e818052561738128f3-EX1bqd"/>
          <p:cNvPicPr>
            <a:picLocks noChangeAspect="1"/>
          </p:cNvPicPr>
          <p:nvPr/>
        </p:nvPicPr>
        <p:blipFill>
          <a:blip r:embed="rId4"/>
          <a:srcRect l="68455" t="79144"/>
          <a:stretch>
            <a:fillRect/>
          </a:stretch>
        </p:blipFill>
        <p:spPr>
          <a:xfrm rot="20580000">
            <a:off x="7037493" y="5181600"/>
            <a:ext cx="1136227" cy="927947"/>
          </a:xfrm>
          <a:prstGeom prst="rect">
            <a:avLst/>
          </a:prstGeom>
        </p:spPr>
      </p:pic>
      <p:pic>
        <p:nvPicPr>
          <p:cNvPr id="20" name="图片 19" descr="亿道数码-中英文—白色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30610" y="-8890"/>
            <a:ext cx="852805" cy="506095"/>
          </a:xfrm>
          <a:prstGeom prst="rect">
            <a:avLst/>
          </a:prstGeom>
        </p:spPr>
      </p:pic>
      <p:pic>
        <p:nvPicPr>
          <p:cNvPr id="11" name="图片 10" descr="图片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lum contrast="-24000"/>
          </a:blip>
          <a:stretch>
            <a:fillRect/>
          </a:stretch>
        </p:blipFill>
        <p:spPr>
          <a:xfrm>
            <a:off x="2703513" y="497205"/>
            <a:ext cx="6955790" cy="2407920"/>
          </a:xfrm>
          <a:prstGeom prst="rect">
            <a:avLst/>
          </a:prstGeom>
          <a:effectLst>
            <a:outerShdw dir="5400000" algn="ctr" rotWithShape="0">
              <a:srgbClr val="000000">
                <a:alpha val="100000"/>
              </a:srgbClr>
            </a:outerShdw>
          </a:effectLst>
        </p:spPr>
      </p:pic>
    </p:spTree>
    <p:custDataLst>
      <p:tags r:id="rId9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1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2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3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35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6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7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8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9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1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2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3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45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46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7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8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9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5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UNIT_TABLE_BEAUTIFY" val="smartTable{64bdbec6-52e8-4a46-ac36-b8d034c3966c}"/>
  <p:tag name="TABLE_RECT" val="43.475*48.7375*873.05*362.25"/>
  <p:tag name="TABLE_EMPHASIZE_COLOR" val="7768220"/>
  <p:tag name="TABLE_ONEKEY_SKIN_IDX" val="0"/>
  <p:tag name="TABLE_SKINIDX" val="-1"/>
  <p:tag name="TABLE_COLORIDX" val="l"/>
  <p:tag name="TABLE_ENDDRAG_ORIGIN_RECT" val="959*485"/>
  <p:tag name="TABLE_ENDDRAG_RECT" val="0*54*959*485"/>
  <p:tag name="TABLE_COLOR_RGB" val="0x000000*0xFFFFFF*0x212121*0xFFFFFF*0x76889C*0x9DB1CA*0x8C9DBB*0x7A9DB3*0xB5CFCE*0xD7ECF1"/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TABLE_ENDDRAG_ORIGIN_RECT" val="862*385"/>
  <p:tag name="TABLE_ENDDRAG_RECT" val="60*108*862*385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TABLE_ENDDRAG_ORIGIN_RECT" val="959*464"/>
  <p:tag name="TABLE_ENDDRAG_RECT" val="0*75*959*464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UNIT_TABLE_BEAUTIFY" val="smartTable{24975ba2-8cc2-46ac-879f-a88c68fbe939}"/>
  <p:tag name="TABLE_RECT" val="43.475*48.7375*873.05*362.25"/>
  <p:tag name="TABLE_EMPHASIZE_COLOR" val="7768220"/>
  <p:tag name="TABLE_ONEKEY_SKIN_IDX" val="0"/>
  <p:tag name="TABLE_SKINIDX" val="-1"/>
  <p:tag name="TABLE_COLORIDX" val="l"/>
  <p:tag name="TABLE_ENDDRAG_ORIGIN_RECT" val="960*487"/>
  <p:tag name="TABLE_ENDDRAG_RECT" val="0*52*960*487"/>
  <p:tag name="TABLE_COLOR_RGB" val="0x000000*0xFFFFFF*0x212121*0xFFFFFF*0x76889C*0x9DB1CA*0x8C9DBB*0x7A9DB3*0xB5CFCE*0xD7ECF1"/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UNIT_PLACING_PICTURE_USER_VIEWPORT" val="{&quot;height&quot;:5079,&quot;width&quot;:6645}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3.xml><?xml version="1.0" encoding="utf-8"?>
<p:tagLst xmlns:p="http://schemas.openxmlformats.org/presentationml/2006/main">
  <p:tag name="COMMONDATA" val="eyJoZGlkIjoiMTlmM2JkM2E5ZGYyMGEwOWU4NmQ0OTRkODE4MTA3YTIifQ=="/>
  <p:tag name="KSO_WPP_MARK_KEY" val="3ceb8a52-39e2-4916-8260-f9b59d63a0d3"/>
  <p:tag name="commondata" val="eyJoZGlkIjoiZjlhMGE4ZjY2Y2M2YzkxZDQyNzcyMjI5M2YyYzBjMjc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​​">
  <a:themeElements>
    <a:clrScheme name="">
      <a:dk1>
        <a:srgbClr val="000000"/>
      </a:dk1>
      <a:lt1>
        <a:srgbClr val="FFFFFF"/>
      </a:lt1>
      <a:dk2>
        <a:srgbClr val="E2EFFD"/>
      </a:dk2>
      <a:lt2>
        <a:srgbClr val="FEFEFF"/>
      </a:lt2>
      <a:accent1>
        <a:srgbClr val="003C83"/>
      </a:accent1>
      <a:accent2>
        <a:srgbClr val="015CB7"/>
      </a:accent2>
      <a:accent3>
        <a:srgbClr val="2573C5"/>
      </a:accent3>
      <a:accent4>
        <a:srgbClr val="3785D8"/>
      </a:accent4>
      <a:accent5>
        <a:srgbClr val="3D90E9"/>
      </a:accent5>
      <a:accent6>
        <a:srgbClr val="1D7ADC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3332</Words>
  <Application>WPS Presentation</Application>
  <PresentationFormat>全屏显示(16:9)</PresentationFormat>
  <Paragraphs>405</Paragraphs>
  <Slides>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Microsoft YaHei</vt:lpstr>
      <vt:lpstr>汉仪旗黑</vt:lpstr>
      <vt:lpstr>Arial Regular</vt:lpstr>
      <vt:lpstr>汉仪书宋二KW</vt:lpstr>
      <vt:lpstr>Microsoft YaHei</vt:lpstr>
      <vt:lpstr>Microsoft YaHei</vt:lpstr>
      <vt:lpstr>Arial Unicode MS</vt:lpstr>
      <vt:lpstr>Calibri</vt:lpstr>
      <vt:lpstr>Helvetica Neue</vt:lpstr>
      <vt:lpstr>SimSun</vt:lpstr>
      <vt:lpstr>Microsoft YaHei</vt:lpstr>
      <vt:lpstr>SimSun</vt:lpstr>
      <vt:lpstr>Office 主题​​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俗染</cp:lastModifiedBy>
  <cp:revision>342</cp:revision>
  <dcterms:created xsi:type="dcterms:W3CDTF">2026-10-12T00:44:54Z</dcterms:created>
  <dcterms:modified xsi:type="dcterms:W3CDTF">2026-10-12T00:44:54Z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61FFB193E021430A9032425EC93DEB38_13</vt:lpwstr>
  </property>
</Properties>
</file>